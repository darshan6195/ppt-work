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team structure for the RFP response, all rolled up under one Delivery Team: a Delivery Partner owns the engagement overall, Technical Architect and Project Management Role co-lead beneath that, two Lead Consultants run workstreams, three Senior Consultants own process areas, and four Consultants execute migration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2900"/>
            <a:ext cx="83945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RFP RESPONSE — PROPOSED DELIVERY TEAM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47700"/>
            <a:ext cx="8394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Syniti Knowledge Platform migration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69900" y="533400"/>
            <a:ext cx="3908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roles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769900" y="876300"/>
            <a:ext cx="3908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Delivery Team, 5 experience levels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257300"/>
            <a:ext cx="17068800" cy="8427720"/>
          </a:xfrm>
          <a:prstGeom prst="roundRect">
            <a:avLst>
              <a:gd name="adj" fmla="val 904"/>
            </a:avLst>
          </a:prstGeom>
          <a:solidFill>
            <a:srgbClr val="EEF0F4"/>
          </a:solidFill>
          <a:ln w="7620">
            <a:solidFill>
              <a:srgbClr val="E1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3920" y="139827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CD3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474470"/>
            <a:ext cx="171450" cy="171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22070" y="1468755"/>
            <a:ext cx="1135618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1487805"/>
            <a:ext cx="102131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TEAM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71988" y="1472565"/>
            <a:ext cx="480694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engagement structure — 12 seats across 5 experience levels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7524750" y="1836420"/>
            <a:ext cx="3238500" cy="1559242"/>
          </a:xfrm>
          <a:prstGeom prst="roundRect">
            <a:avLst>
              <a:gd name="adj" fmla="val 6109"/>
            </a:avLst>
          </a:prstGeom>
          <a:solidFill>
            <a:srgbClr val="101C4A"/>
          </a:solidFill>
          <a:ln/>
          <a:effectLst>
            <a:outerShdw sx="100000" sy="100000" kx="0" ky="0" algn="bl" rotWithShape="0" blurRad="133350" dist="38100" dir="5400000">
              <a:srgbClr val="101C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77150" y="196977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FFFFFF">
              <a:alpha val="14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9538" y="2022158"/>
            <a:ext cx="142875" cy="1428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2002155"/>
            <a:ext cx="1131213" cy="182880"/>
          </a:xfrm>
          <a:prstGeom prst="roundRect">
            <a:avLst>
              <a:gd name="adj" fmla="val 50000"/>
            </a:avLst>
          </a:prstGeom>
          <a:solidFill>
            <a:srgbClr val="DCE6FD"/>
          </a:solidFill>
          <a:ln/>
        </p:spPr>
      </p:sp>
      <p:sp>
        <p:nvSpPr>
          <p:cNvPr id="16" name="Text 12"/>
          <p:cNvSpPr/>
          <p:nvPr/>
        </p:nvSpPr>
        <p:spPr>
          <a:xfrm>
            <a:off x="8096250" y="2021205"/>
            <a:ext cx="10169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223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LEAD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677150" y="2284095"/>
            <a:ext cx="322707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Partner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7677150" y="2552700"/>
            <a:ext cx="322707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9A87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ACCOUNTABILITY FOR THE ENGAGEMENT</a:t>
            </a:r>
            <a:endParaRPr lang="en-US" sz="788" dirty="0"/>
          </a:p>
        </p:txBody>
      </p:sp>
      <p:sp>
        <p:nvSpPr>
          <p:cNvPr id="19" name="Text 15"/>
          <p:cNvSpPr/>
          <p:nvPr/>
        </p:nvSpPr>
        <p:spPr>
          <a:xfrm>
            <a:off x="7677150" y="2722245"/>
            <a:ext cx="3021711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dirty="0">
                <a:solidFill>
                  <a:srgbClr val="FFFFFF">
                    <a:alpha val="8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the client relationship and final accountability for delivery outcomes across the program.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139238" y="3395663"/>
            <a:ext cx="9525" cy="476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34250" y="3443288"/>
            <a:ext cx="3619500" cy="95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22" name="Shape 18"/>
          <p:cNvSpPr/>
          <p:nvPr/>
        </p:nvSpPr>
        <p:spPr>
          <a:xfrm>
            <a:off x="7334250" y="3443288"/>
            <a:ext cx="9525" cy="762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23" name="Shape 19"/>
          <p:cNvSpPr/>
          <p:nvPr/>
        </p:nvSpPr>
        <p:spPr>
          <a:xfrm>
            <a:off x="10944225" y="3443288"/>
            <a:ext cx="9525" cy="762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24" name="Shape 20"/>
          <p:cNvSpPr/>
          <p:nvPr/>
        </p:nvSpPr>
        <p:spPr>
          <a:xfrm>
            <a:off x="5810250" y="3519488"/>
            <a:ext cx="3048000" cy="1696403"/>
          </a:xfrm>
          <a:prstGeom prst="roundRect">
            <a:avLst>
              <a:gd name="adj" fmla="val 5615"/>
            </a:avLst>
          </a:prstGeom>
          <a:solidFill>
            <a:srgbClr val="FFFFFF"/>
          </a:solidFill>
          <a:ln w="7620">
            <a:solidFill>
              <a:srgbClr val="5B3DF0"/>
            </a:solidFill>
            <a:prstDash val="solid"/>
          </a:ln>
          <a:effectLst>
            <a:outerShdw sx="100000" sy="100000" kx="0" ky="0" algn="bl" rotWithShape="0" blurRad="133350" dist="38100" dir="5400000">
              <a:srgbClr val="101C4A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970270" y="3660458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2657" y="3712845"/>
            <a:ext cx="142875" cy="14287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294120" y="3692843"/>
            <a:ext cx="921663" cy="182880"/>
          </a:xfrm>
          <a:prstGeom prst="roundRect">
            <a:avLst>
              <a:gd name="adj" fmla="val 50000"/>
            </a:avLst>
          </a:prstGeom>
          <a:solidFill>
            <a:srgbClr val="DCE6FD"/>
          </a:solidFill>
          <a:ln/>
        </p:spPr>
      </p:sp>
      <p:sp>
        <p:nvSpPr>
          <p:cNvPr id="28" name="Text 23"/>
          <p:cNvSpPr/>
          <p:nvPr/>
        </p:nvSpPr>
        <p:spPr>
          <a:xfrm>
            <a:off x="6389370" y="3711893"/>
            <a:ext cx="80736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223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970270" y="3974783"/>
            <a:ext cx="300075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</a:t>
            </a:r>
            <a:endParaRPr lang="en-US" sz="1425" dirty="0"/>
          </a:p>
        </p:txBody>
      </p:sp>
      <p:sp>
        <p:nvSpPr>
          <p:cNvPr id="30" name="Text 25"/>
          <p:cNvSpPr/>
          <p:nvPr/>
        </p:nvSpPr>
        <p:spPr>
          <a:xfrm>
            <a:off x="5970270" y="4243388"/>
            <a:ext cx="28097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THROUGH TECHNICAL PROWESS &amp; INNOVATION</a:t>
            </a:r>
            <a:endParaRPr lang="en-US" sz="788" dirty="0"/>
          </a:p>
        </p:txBody>
      </p:sp>
      <p:sp>
        <p:nvSpPr>
          <p:cNvPr id="31" name="Text 26"/>
          <p:cNvSpPr/>
          <p:nvPr/>
        </p:nvSpPr>
        <p:spPr>
          <a:xfrm>
            <a:off x="5970270" y="4534853"/>
            <a:ext cx="2809799" cy="57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overall technical management, design and approach for the migration program.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9429750" y="3519488"/>
            <a:ext cx="3048000" cy="139446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7620">
            <a:solidFill>
              <a:srgbClr val="5B3DF0"/>
            </a:solidFill>
            <a:prstDash val="solid"/>
          </a:ln>
          <a:effectLst>
            <a:outerShdw sx="100000" sy="100000" kx="0" ky="0" algn="bl" rotWithShape="0" blurRad="133350" dist="38100" dir="5400000">
              <a:srgbClr val="101C4A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589770" y="3660458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42157" y="3712845"/>
            <a:ext cx="142875" cy="142875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9913620" y="3692843"/>
            <a:ext cx="921663" cy="182880"/>
          </a:xfrm>
          <a:prstGeom prst="roundRect">
            <a:avLst>
              <a:gd name="adj" fmla="val 50000"/>
            </a:avLst>
          </a:prstGeom>
          <a:solidFill>
            <a:srgbClr val="DCE6FD"/>
          </a:solidFill>
          <a:ln/>
        </p:spPr>
      </p:sp>
      <p:sp>
        <p:nvSpPr>
          <p:cNvPr id="36" name="Text 30"/>
          <p:cNvSpPr/>
          <p:nvPr/>
        </p:nvSpPr>
        <p:spPr>
          <a:xfrm>
            <a:off x="10008870" y="3711893"/>
            <a:ext cx="80736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223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9589770" y="3974783"/>
            <a:ext cx="300075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Management Role</a:t>
            </a:r>
            <a:endParaRPr lang="en-US" sz="1425" dirty="0"/>
          </a:p>
        </p:txBody>
      </p:sp>
      <p:sp>
        <p:nvSpPr>
          <p:cNvPr id="38" name="Text 32"/>
          <p:cNvSpPr/>
          <p:nvPr/>
        </p:nvSpPr>
        <p:spPr>
          <a:xfrm>
            <a:off x="9589770" y="4243388"/>
            <a:ext cx="300075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THROUGH PROJECT MANAGEMENT</a:t>
            </a:r>
            <a:endParaRPr lang="en-US" sz="788" dirty="0"/>
          </a:p>
        </p:txBody>
      </p:sp>
      <p:sp>
        <p:nvSpPr>
          <p:cNvPr id="39" name="Text 33"/>
          <p:cNvSpPr/>
          <p:nvPr/>
        </p:nvSpPr>
        <p:spPr>
          <a:xfrm>
            <a:off x="9589770" y="4412933"/>
            <a:ext cx="280979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project planning, delivery, and the customer relationship.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7334250" y="5215890"/>
            <a:ext cx="9525" cy="476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41" name="Shape 35"/>
          <p:cNvSpPr/>
          <p:nvPr/>
        </p:nvSpPr>
        <p:spPr>
          <a:xfrm>
            <a:off x="10944225" y="5215890"/>
            <a:ext cx="9525" cy="476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42" name="Shape 36"/>
          <p:cNvSpPr/>
          <p:nvPr/>
        </p:nvSpPr>
        <p:spPr>
          <a:xfrm>
            <a:off x="7334250" y="5263515"/>
            <a:ext cx="3619500" cy="95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43" name="Shape 37"/>
          <p:cNvSpPr/>
          <p:nvPr/>
        </p:nvSpPr>
        <p:spPr>
          <a:xfrm>
            <a:off x="9139238" y="5263515"/>
            <a:ext cx="9525" cy="762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44" name="Shape 38"/>
          <p:cNvSpPr/>
          <p:nvPr/>
        </p:nvSpPr>
        <p:spPr>
          <a:xfrm>
            <a:off x="5810250" y="5339715"/>
            <a:ext cx="3048000" cy="1516380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 w="7620">
            <a:solidFill>
              <a:srgbClr val="5B3DF0"/>
            </a:solidFill>
            <a:prstDash val="solid"/>
          </a:ln>
          <a:effectLst>
            <a:outerShdw sx="100000" sy="100000" kx="0" ky="0" algn="bl" rotWithShape="0" blurRad="133350" dist="38100" dir="5400000">
              <a:srgbClr val="101C4A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5970270" y="548068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2657" y="5533073"/>
            <a:ext cx="142875" cy="14287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6294120" y="5513070"/>
            <a:ext cx="1391007" cy="182880"/>
          </a:xfrm>
          <a:prstGeom prst="roundRect">
            <a:avLst>
              <a:gd name="adj" fmla="val 50000"/>
            </a:avLst>
          </a:prstGeom>
          <a:solidFill>
            <a:srgbClr val="DCE6FD"/>
          </a:solidFill>
          <a:ln/>
        </p:spPr>
      </p:sp>
      <p:sp>
        <p:nvSpPr>
          <p:cNvPr id="48" name="Text 41"/>
          <p:cNvSpPr/>
          <p:nvPr/>
        </p:nvSpPr>
        <p:spPr>
          <a:xfrm>
            <a:off x="6389370" y="5532120"/>
            <a:ext cx="132055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223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5970270" y="5795010"/>
            <a:ext cx="300075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Consultant</a:t>
            </a:r>
            <a:endParaRPr lang="en-US" sz="1425" dirty="0"/>
          </a:p>
        </p:txBody>
      </p:sp>
      <p:sp>
        <p:nvSpPr>
          <p:cNvPr id="50" name="Text 43"/>
          <p:cNvSpPr/>
          <p:nvPr/>
        </p:nvSpPr>
        <p:spPr>
          <a:xfrm>
            <a:off x="5970270" y="6063615"/>
            <a:ext cx="28097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A BROADER IMPACT BY INFLUENCING AND LEADING OTHERS</a:t>
            </a:r>
            <a:endParaRPr lang="en-US" sz="788" dirty="0"/>
          </a:p>
        </p:txBody>
      </p:sp>
      <p:sp>
        <p:nvSpPr>
          <p:cNvPr id="51" name="Text 44"/>
          <p:cNvSpPr/>
          <p:nvPr/>
        </p:nvSpPr>
        <p:spPr>
          <a:xfrm>
            <a:off x="5970270" y="6355080"/>
            <a:ext cx="280979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 workstream, coordinates cross-team activities, and owns cutover planning.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9429750" y="5339715"/>
            <a:ext cx="3048000" cy="1516380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 w="7620">
            <a:solidFill>
              <a:srgbClr val="5B3DF0"/>
            </a:solidFill>
            <a:prstDash val="solid"/>
          </a:ln>
          <a:effectLst>
            <a:outerShdw sx="100000" sy="100000" kx="0" ky="0" algn="bl" rotWithShape="0" blurRad="133350" dist="38100" dir="5400000">
              <a:srgbClr val="101C4A">
                <a:alpha val="10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9589770" y="548068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2157" y="5533073"/>
            <a:ext cx="142875" cy="142875"/>
          </a:xfrm>
          <a:prstGeom prst="rect">
            <a:avLst/>
          </a:prstGeom>
        </p:spPr>
      </p:pic>
      <p:sp>
        <p:nvSpPr>
          <p:cNvPr id="55" name="Shape 47"/>
          <p:cNvSpPr/>
          <p:nvPr/>
        </p:nvSpPr>
        <p:spPr>
          <a:xfrm>
            <a:off x="9913620" y="5513070"/>
            <a:ext cx="1391007" cy="182880"/>
          </a:xfrm>
          <a:prstGeom prst="roundRect">
            <a:avLst>
              <a:gd name="adj" fmla="val 50000"/>
            </a:avLst>
          </a:prstGeom>
          <a:solidFill>
            <a:srgbClr val="DCE6FD"/>
          </a:solidFill>
          <a:ln/>
        </p:spPr>
      </p:sp>
      <p:sp>
        <p:nvSpPr>
          <p:cNvPr id="56" name="Text 48"/>
          <p:cNvSpPr/>
          <p:nvPr/>
        </p:nvSpPr>
        <p:spPr>
          <a:xfrm>
            <a:off x="10008870" y="5532120"/>
            <a:ext cx="132055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223F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WORKSTREAM LEAD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9589770" y="5795010"/>
            <a:ext cx="300075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Consultant</a:t>
            </a:r>
            <a:endParaRPr lang="en-US" sz="1425" dirty="0"/>
          </a:p>
        </p:txBody>
      </p:sp>
      <p:sp>
        <p:nvSpPr>
          <p:cNvPr id="58" name="Text 50"/>
          <p:cNvSpPr/>
          <p:nvPr/>
        </p:nvSpPr>
        <p:spPr>
          <a:xfrm>
            <a:off x="9589770" y="6063615"/>
            <a:ext cx="280979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A BROADER IMPACT BY INFLUENCING AND LEADING OTHERS</a:t>
            </a:r>
            <a:endParaRPr lang="en-US" sz="788" dirty="0"/>
          </a:p>
        </p:txBody>
      </p:sp>
      <p:sp>
        <p:nvSpPr>
          <p:cNvPr id="59" name="Text 51"/>
          <p:cNvSpPr/>
          <p:nvPr/>
        </p:nvSpPr>
        <p:spPr>
          <a:xfrm>
            <a:off x="9589770" y="6355080"/>
            <a:ext cx="2809799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oversight across process areas and mentors senior team members.</a:t>
            </a:r>
            <a:endParaRPr lang="en-US" sz="1050" dirty="0"/>
          </a:p>
        </p:txBody>
      </p:sp>
      <p:sp>
        <p:nvSpPr>
          <p:cNvPr id="60" name="Shape 52"/>
          <p:cNvSpPr/>
          <p:nvPr/>
        </p:nvSpPr>
        <p:spPr>
          <a:xfrm>
            <a:off x="9139238" y="6856095"/>
            <a:ext cx="9525" cy="476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61" name="Shape 53"/>
          <p:cNvSpPr/>
          <p:nvPr/>
        </p:nvSpPr>
        <p:spPr>
          <a:xfrm>
            <a:off x="5829300" y="6970395"/>
            <a:ext cx="6629400" cy="95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62" name="Shape 54"/>
          <p:cNvSpPr/>
          <p:nvPr/>
        </p:nvSpPr>
        <p:spPr>
          <a:xfrm>
            <a:off x="5829300" y="6970395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63" name="Shape 55"/>
          <p:cNvSpPr/>
          <p:nvPr/>
        </p:nvSpPr>
        <p:spPr>
          <a:xfrm>
            <a:off x="9139238" y="6970395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64" name="Shape 56"/>
          <p:cNvSpPr/>
          <p:nvPr/>
        </p:nvSpPr>
        <p:spPr>
          <a:xfrm>
            <a:off x="12449175" y="6970395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65" name="Shape 57"/>
          <p:cNvSpPr/>
          <p:nvPr/>
        </p:nvSpPr>
        <p:spPr>
          <a:xfrm>
            <a:off x="4972050" y="6979920"/>
            <a:ext cx="2476500" cy="1600438"/>
          </a:xfrm>
          <a:prstGeom prst="roundRect">
            <a:avLst>
              <a:gd name="adj" fmla="val 5951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5132070" y="712089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4457" y="7173278"/>
            <a:ext cx="142875" cy="142875"/>
          </a:xfrm>
          <a:prstGeom prst="rect">
            <a:avLst/>
          </a:prstGeom>
        </p:spPr>
      </p:pic>
      <p:sp>
        <p:nvSpPr>
          <p:cNvPr id="68" name="Shape 59"/>
          <p:cNvSpPr/>
          <p:nvPr/>
        </p:nvSpPr>
        <p:spPr>
          <a:xfrm>
            <a:off x="5455920" y="7153275"/>
            <a:ext cx="628650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69" name="Text 60"/>
          <p:cNvSpPr/>
          <p:nvPr/>
        </p:nvSpPr>
        <p:spPr>
          <a:xfrm>
            <a:off x="5551170" y="7172325"/>
            <a:ext cx="5143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</a:t>
            </a:r>
            <a:endParaRPr lang="en-US" sz="900" dirty="0"/>
          </a:p>
        </p:txBody>
      </p:sp>
      <p:sp>
        <p:nvSpPr>
          <p:cNvPr id="70" name="Text 61"/>
          <p:cNvSpPr/>
          <p:nvPr/>
        </p:nvSpPr>
        <p:spPr>
          <a:xfrm>
            <a:off x="5132070" y="7435215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Consultant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5132070" y="7665720"/>
            <a:ext cx="22326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AND CONTRIBUTES INDEPENDENTLY</a:t>
            </a:r>
            <a:endParaRPr lang="en-US" sz="788" dirty="0"/>
          </a:p>
        </p:txBody>
      </p:sp>
      <p:sp>
        <p:nvSpPr>
          <p:cNvPr id="72" name="Text 63"/>
          <p:cNvSpPr/>
          <p:nvPr/>
        </p:nvSpPr>
        <p:spPr>
          <a:xfrm>
            <a:off x="5132070" y="7957185"/>
            <a:ext cx="2232660" cy="520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a definable portion of the migration process with minimal supervision.</a:t>
            </a:r>
            <a:endParaRPr lang="en-US" sz="938" dirty="0"/>
          </a:p>
        </p:txBody>
      </p:sp>
      <p:sp>
        <p:nvSpPr>
          <p:cNvPr id="73" name="Shape 64"/>
          <p:cNvSpPr/>
          <p:nvPr/>
        </p:nvSpPr>
        <p:spPr>
          <a:xfrm>
            <a:off x="7905750" y="6979920"/>
            <a:ext cx="2476500" cy="1439704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74" name="Shape 65"/>
          <p:cNvSpPr/>
          <p:nvPr/>
        </p:nvSpPr>
        <p:spPr>
          <a:xfrm>
            <a:off x="8065770" y="712089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18157" y="7173278"/>
            <a:ext cx="142875" cy="142875"/>
          </a:xfrm>
          <a:prstGeom prst="rect">
            <a:avLst/>
          </a:prstGeom>
        </p:spPr>
      </p:pic>
      <p:sp>
        <p:nvSpPr>
          <p:cNvPr id="76" name="Shape 66"/>
          <p:cNvSpPr/>
          <p:nvPr/>
        </p:nvSpPr>
        <p:spPr>
          <a:xfrm>
            <a:off x="8389620" y="7153275"/>
            <a:ext cx="628650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77" name="Text 67"/>
          <p:cNvSpPr/>
          <p:nvPr/>
        </p:nvSpPr>
        <p:spPr>
          <a:xfrm>
            <a:off x="8484870" y="7172325"/>
            <a:ext cx="5143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</a:t>
            </a:r>
            <a:endParaRPr lang="en-US" sz="900" dirty="0"/>
          </a:p>
        </p:txBody>
      </p:sp>
      <p:sp>
        <p:nvSpPr>
          <p:cNvPr id="78" name="Text 68"/>
          <p:cNvSpPr/>
          <p:nvPr/>
        </p:nvSpPr>
        <p:spPr>
          <a:xfrm>
            <a:off x="8065770" y="7435215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Consultant</a:t>
            </a:r>
            <a:endParaRPr lang="en-US" sz="1200" dirty="0"/>
          </a:p>
        </p:txBody>
      </p:sp>
      <p:sp>
        <p:nvSpPr>
          <p:cNvPr id="79" name="Text 69"/>
          <p:cNvSpPr/>
          <p:nvPr/>
        </p:nvSpPr>
        <p:spPr>
          <a:xfrm>
            <a:off x="8065770" y="7665720"/>
            <a:ext cx="22326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AND CONTRIBUTES INDEPENDENTLY</a:t>
            </a:r>
            <a:endParaRPr lang="en-US" sz="788" dirty="0"/>
          </a:p>
        </p:txBody>
      </p:sp>
      <p:sp>
        <p:nvSpPr>
          <p:cNvPr id="80" name="Text 70"/>
          <p:cNvSpPr/>
          <p:nvPr/>
        </p:nvSpPr>
        <p:spPr>
          <a:xfrm>
            <a:off x="8065770" y="7957185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as liaison to business area subject matter experts and leads.</a:t>
            </a:r>
            <a:endParaRPr lang="en-US" sz="938" dirty="0"/>
          </a:p>
        </p:txBody>
      </p:sp>
      <p:sp>
        <p:nvSpPr>
          <p:cNvPr id="81" name="Shape 71"/>
          <p:cNvSpPr/>
          <p:nvPr/>
        </p:nvSpPr>
        <p:spPr>
          <a:xfrm>
            <a:off x="10839450" y="6979920"/>
            <a:ext cx="2476500" cy="1439704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82" name="Shape 72"/>
          <p:cNvSpPr/>
          <p:nvPr/>
        </p:nvSpPr>
        <p:spPr>
          <a:xfrm>
            <a:off x="10999470" y="7120890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51858" y="7173278"/>
            <a:ext cx="142875" cy="142875"/>
          </a:xfrm>
          <a:prstGeom prst="rect">
            <a:avLst/>
          </a:prstGeom>
        </p:spPr>
      </p:pic>
      <p:sp>
        <p:nvSpPr>
          <p:cNvPr id="84" name="Shape 73"/>
          <p:cNvSpPr/>
          <p:nvPr/>
        </p:nvSpPr>
        <p:spPr>
          <a:xfrm>
            <a:off x="11323320" y="7153275"/>
            <a:ext cx="628650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85" name="Text 74"/>
          <p:cNvSpPr/>
          <p:nvPr/>
        </p:nvSpPr>
        <p:spPr>
          <a:xfrm>
            <a:off x="11418570" y="7172325"/>
            <a:ext cx="51435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</a:t>
            </a:r>
            <a:endParaRPr lang="en-US" sz="900" dirty="0"/>
          </a:p>
        </p:txBody>
      </p:sp>
      <p:sp>
        <p:nvSpPr>
          <p:cNvPr id="86" name="Text 75"/>
          <p:cNvSpPr/>
          <p:nvPr/>
        </p:nvSpPr>
        <p:spPr>
          <a:xfrm>
            <a:off x="10999470" y="7435215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Consultant</a:t>
            </a:r>
            <a:endParaRPr lang="en-US" sz="1200" dirty="0"/>
          </a:p>
        </p:txBody>
      </p:sp>
      <p:sp>
        <p:nvSpPr>
          <p:cNvPr id="87" name="Text 76"/>
          <p:cNvSpPr/>
          <p:nvPr/>
        </p:nvSpPr>
        <p:spPr>
          <a:xfrm>
            <a:off x="10999470" y="7665720"/>
            <a:ext cx="22326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AND CONTRIBUTES INDEPENDENTLY</a:t>
            </a:r>
            <a:endParaRPr lang="en-US" sz="788" dirty="0"/>
          </a:p>
        </p:txBody>
      </p:sp>
      <p:sp>
        <p:nvSpPr>
          <p:cNvPr id="88" name="Text 77"/>
          <p:cNvSpPr/>
          <p:nvPr/>
        </p:nvSpPr>
        <p:spPr>
          <a:xfrm>
            <a:off x="10999470" y="7957185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 junior team members and reviews technical deliverables.</a:t>
            </a:r>
            <a:endParaRPr lang="en-US" sz="938" dirty="0"/>
          </a:p>
        </p:txBody>
      </p:sp>
      <p:sp>
        <p:nvSpPr>
          <p:cNvPr id="89" name="Shape 78"/>
          <p:cNvSpPr/>
          <p:nvPr/>
        </p:nvSpPr>
        <p:spPr>
          <a:xfrm>
            <a:off x="9139238" y="8580358"/>
            <a:ext cx="9525" cy="476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0" name="Shape 79"/>
          <p:cNvSpPr/>
          <p:nvPr/>
        </p:nvSpPr>
        <p:spPr>
          <a:xfrm>
            <a:off x="4286250" y="8694658"/>
            <a:ext cx="9715500" cy="9525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1" name="Shape 80"/>
          <p:cNvSpPr/>
          <p:nvPr/>
        </p:nvSpPr>
        <p:spPr>
          <a:xfrm>
            <a:off x="4286250" y="8694658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2" name="Shape 81"/>
          <p:cNvSpPr/>
          <p:nvPr/>
        </p:nvSpPr>
        <p:spPr>
          <a:xfrm>
            <a:off x="7519631" y="8694658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3" name="Shape 82"/>
          <p:cNvSpPr/>
          <p:nvPr/>
        </p:nvSpPr>
        <p:spPr>
          <a:xfrm>
            <a:off x="10757774" y="8694658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4" name="Shape 83"/>
          <p:cNvSpPr/>
          <p:nvPr/>
        </p:nvSpPr>
        <p:spPr>
          <a:xfrm>
            <a:off x="13992225" y="8694658"/>
            <a:ext cx="9525" cy="152400"/>
          </a:xfrm>
          <a:prstGeom prst="rect">
            <a:avLst/>
          </a:prstGeom>
          <a:solidFill>
            <a:srgbClr val="C8CDD8"/>
          </a:solidFill>
          <a:ln/>
        </p:spPr>
      </p:sp>
      <p:sp>
        <p:nvSpPr>
          <p:cNvPr id="95" name="Shape 84"/>
          <p:cNvSpPr/>
          <p:nvPr/>
        </p:nvSpPr>
        <p:spPr>
          <a:xfrm>
            <a:off x="3619500" y="8704183"/>
            <a:ext cx="2476500" cy="131778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96" name="Shape 85"/>
          <p:cNvSpPr/>
          <p:nvPr/>
        </p:nvSpPr>
        <p:spPr>
          <a:xfrm>
            <a:off x="3779520" y="8845153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9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31908" y="8897541"/>
            <a:ext cx="142875" cy="142875"/>
          </a:xfrm>
          <a:prstGeom prst="rect">
            <a:avLst/>
          </a:prstGeom>
        </p:spPr>
      </p:pic>
      <p:sp>
        <p:nvSpPr>
          <p:cNvPr id="98" name="Shape 86"/>
          <p:cNvSpPr/>
          <p:nvPr/>
        </p:nvSpPr>
        <p:spPr>
          <a:xfrm>
            <a:off x="4103370" y="8877538"/>
            <a:ext cx="995601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99" name="Text 87"/>
          <p:cNvSpPr/>
          <p:nvPr/>
        </p:nvSpPr>
        <p:spPr>
          <a:xfrm>
            <a:off x="4198620" y="8896588"/>
            <a:ext cx="88130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900" dirty="0"/>
          </a:p>
        </p:txBody>
      </p:sp>
      <p:sp>
        <p:nvSpPr>
          <p:cNvPr id="100" name="Text 88"/>
          <p:cNvSpPr/>
          <p:nvPr/>
        </p:nvSpPr>
        <p:spPr>
          <a:xfrm>
            <a:off x="3779520" y="9159478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200" dirty="0"/>
          </a:p>
        </p:txBody>
      </p:sp>
      <p:sp>
        <p:nvSpPr>
          <p:cNvPr id="101" name="Text 89"/>
          <p:cNvSpPr/>
          <p:nvPr/>
        </p:nvSpPr>
        <p:spPr>
          <a:xfrm>
            <a:off x="3779520" y="9389983"/>
            <a:ext cx="237210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DEPENDENTLY</a:t>
            </a:r>
            <a:endParaRPr lang="en-US" sz="788" dirty="0"/>
          </a:p>
        </p:txBody>
      </p:sp>
      <p:sp>
        <p:nvSpPr>
          <p:cNvPr id="102" name="Text 90"/>
          <p:cNvSpPr/>
          <p:nvPr/>
        </p:nvSpPr>
        <p:spPr>
          <a:xfrm>
            <a:off x="3779520" y="9559528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simpler objects end-to-end and executes data conversion processes.</a:t>
            </a:r>
            <a:endParaRPr lang="en-US" sz="938" dirty="0"/>
          </a:p>
        </p:txBody>
      </p:sp>
      <p:sp>
        <p:nvSpPr>
          <p:cNvPr id="103" name="Shape 91"/>
          <p:cNvSpPr/>
          <p:nvPr/>
        </p:nvSpPr>
        <p:spPr>
          <a:xfrm>
            <a:off x="6477000" y="8704183"/>
            <a:ext cx="2476500" cy="131778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104" name="Shape 92"/>
          <p:cNvSpPr/>
          <p:nvPr/>
        </p:nvSpPr>
        <p:spPr>
          <a:xfrm>
            <a:off x="6637020" y="8845153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10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89407" y="8897541"/>
            <a:ext cx="142875" cy="142875"/>
          </a:xfrm>
          <a:prstGeom prst="rect">
            <a:avLst/>
          </a:prstGeom>
        </p:spPr>
      </p:pic>
      <p:sp>
        <p:nvSpPr>
          <p:cNvPr id="106" name="Shape 93"/>
          <p:cNvSpPr/>
          <p:nvPr/>
        </p:nvSpPr>
        <p:spPr>
          <a:xfrm>
            <a:off x="6960870" y="8877538"/>
            <a:ext cx="995601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107" name="Text 94"/>
          <p:cNvSpPr/>
          <p:nvPr/>
        </p:nvSpPr>
        <p:spPr>
          <a:xfrm>
            <a:off x="7056120" y="8896588"/>
            <a:ext cx="88130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900" dirty="0"/>
          </a:p>
        </p:txBody>
      </p:sp>
      <p:sp>
        <p:nvSpPr>
          <p:cNvPr id="108" name="Text 95"/>
          <p:cNvSpPr/>
          <p:nvPr/>
        </p:nvSpPr>
        <p:spPr>
          <a:xfrm>
            <a:off x="6637020" y="9159478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200" dirty="0"/>
          </a:p>
        </p:txBody>
      </p:sp>
      <p:sp>
        <p:nvSpPr>
          <p:cNvPr id="109" name="Text 96"/>
          <p:cNvSpPr/>
          <p:nvPr/>
        </p:nvSpPr>
        <p:spPr>
          <a:xfrm>
            <a:off x="6637020" y="9389983"/>
            <a:ext cx="237210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DEPENDENTLY</a:t>
            </a:r>
            <a:endParaRPr lang="en-US" sz="788" dirty="0"/>
          </a:p>
        </p:txBody>
      </p:sp>
      <p:sp>
        <p:nvSpPr>
          <p:cNvPr id="110" name="Text 97"/>
          <p:cNvSpPr/>
          <p:nvPr/>
        </p:nvSpPr>
        <p:spPr>
          <a:xfrm>
            <a:off x="6637020" y="9559528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Participates in data cleansing, validation, and ERP data loads.</a:t>
            </a:r>
            <a:endParaRPr lang="en-US" sz="938" dirty="0"/>
          </a:p>
        </p:txBody>
      </p:sp>
      <p:sp>
        <p:nvSpPr>
          <p:cNvPr id="111" name="Shape 98"/>
          <p:cNvSpPr/>
          <p:nvPr/>
        </p:nvSpPr>
        <p:spPr>
          <a:xfrm>
            <a:off x="9334500" y="8704183"/>
            <a:ext cx="2476500" cy="131778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112" name="Shape 99"/>
          <p:cNvSpPr/>
          <p:nvPr/>
        </p:nvSpPr>
        <p:spPr>
          <a:xfrm>
            <a:off x="9494520" y="8845153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11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46907" y="8897541"/>
            <a:ext cx="142875" cy="142875"/>
          </a:xfrm>
          <a:prstGeom prst="rect">
            <a:avLst/>
          </a:prstGeom>
        </p:spPr>
      </p:pic>
      <p:sp>
        <p:nvSpPr>
          <p:cNvPr id="114" name="Shape 100"/>
          <p:cNvSpPr/>
          <p:nvPr/>
        </p:nvSpPr>
        <p:spPr>
          <a:xfrm>
            <a:off x="9818370" y="8877538"/>
            <a:ext cx="995601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115" name="Text 101"/>
          <p:cNvSpPr/>
          <p:nvPr/>
        </p:nvSpPr>
        <p:spPr>
          <a:xfrm>
            <a:off x="9913620" y="8896588"/>
            <a:ext cx="88130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900" dirty="0"/>
          </a:p>
        </p:txBody>
      </p:sp>
      <p:sp>
        <p:nvSpPr>
          <p:cNvPr id="116" name="Text 102"/>
          <p:cNvSpPr/>
          <p:nvPr/>
        </p:nvSpPr>
        <p:spPr>
          <a:xfrm>
            <a:off x="9494520" y="9159478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200" dirty="0"/>
          </a:p>
        </p:txBody>
      </p:sp>
      <p:sp>
        <p:nvSpPr>
          <p:cNvPr id="117" name="Text 103"/>
          <p:cNvSpPr/>
          <p:nvPr/>
        </p:nvSpPr>
        <p:spPr>
          <a:xfrm>
            <a:off x="9494520" y="9389983"/>
            <a:ext cx="237210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DEPENDENTLY</a:t>
            </a:r>
            <a:endParaRPr lang="en-US" sz="788" dirty="0"/>
          </a:p>
        </p:txBody>
      </p:sp>
      <p:sp>
        <p:nvSpPr>
          <p:cNvPr id="118" name="Text 104"/>
          <p:cNvSpPr/>
          <p:nvPr/>
        </p:nvSpPr>
        <p:spPr>
          <a:xfrm>
            <a:off x="9494520" y="9559528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unit testing, mapping documentation, and cut-over support.</a:t>
            </a:r>
            <a:endParaRPr lang="en-US" sz="938" dirty="0"/>
          </a:p>
        </p:txBody>
      </p:sp>
      <p:sp>
        <p:nvSpPr>
          <p:cNvPr id="119" name="Shape 105"/>
          <p:cNvSpPr/>
          <p:nvPr/>
        </p:nvSpPr>
        <p:spPr>
          <a:xfrm>
            <a:off x="12192000" y="8704183"/>
            <a:ext cx="2476500" cy="1317784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 w="7620">
            <a:solidFill>
              <a:srgbClr val="E1E4EA"/>
            </a:solidFill>
            <a:prstDash val="solid"/>
          </a:ln>
          <a:effectLst>
            <a:outerShdw sx="100000" sy="100000" kx="0" ky="0" algn="bl" rotWithShape="0" blurRad="28575" dist="9525" dir="5400000">
              <a:srgbClr val="101C4A">
                <a:alpha val="6000"/>
              </a:srgbClr>
            </a:outerShdw>
          </a:effectLst>
        </p:spPr>
      </p:sp>
      <p:sp>
        <p:nvSpPr>
          <p:cNvPr id="120" name="Shape 106"/>
          <p:cNvSpPr/>
          <p:nvPr/>
        </p:nvSpPr>
        <p:spPr>
          <a:xfrm>
            <a:off x="12352020" y="8845153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DCD3FC"/>
          </a:solidFill>
          <a:ln/>
        </p:spPr>
      </p:sp>
      <p:pic>
        <p:nvPicPr>
          <p:cNvPr id="12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404408" y="8897541"/>
            <a:ext cx="142875" cy="142875"/>
          </a:xfrm>
          <a:prstGeom prst="rect">
            <a:avLst/>
          </a:prstGeom>
        </p:spPr>
      </p:pic>
      <p:sp>
        <p:nvSpPr>
          <p:cNvPr id="122" name="Shape 107"/>
          <p:cNvSpPr/>
          <p:nvPr/>
        </p:nvSpPr>
        <p:spPr>
          <a:xfrm>
            <a:off x="12675870" y="8877538"/>
            <a:ext cx="995601" cy="182880"/>
          </a:xfrm>
          <a:prstGeom prst="roundRect">
            <a:avLst>
              <a:gd name="adj" fmla="val 50000"/>
            </a:avLst>
          </a:prstGeom>
          <a:solidFill>
            <a:srgbClr val="EEF0F4"/>
          </a:solidFill>
          <a:ln/>
        </p:spPr>
      </p:sp>
      <p:sp>
        <p:nvSpPr>
          <p:cNvPr id="123" name="Text 108"/>
          <p:cNvSpPr/>
          <p:nvPr/>
        </p:nvSpPr>
        <p:spPr>
          <a:xfrm>
            <a:off x="12771120" y="8896588"/>
            <a:ext cx="881301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" kern="0" dirty="0">
                <a:solidFill>
                  <a:srgbClr val="363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900" dirty="0"/>
          </a:p>
        </p:txBody>
      </p:sp>
      <p:sp>
        <p:nvSpPr>
          <p:cNvPr id="124" name="Text 109"/>
          <p:cNvSpPr/>
          <p:nvPr/>
        </p:nvSpPr>
        <p:spPr>
          <a:xfrm>
            <a:off x="12352020" y="9159478"/>
            <a:ext cx="237210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101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</a:t>
            </a:r>
            <a:endParaRPr lang="en-US" sz="1200" dirty="0"/>
          </a:p>
        </p:txBody>
      </p:sp>
      <p:sp>
        <p:nvSpPr>
          <p:cNvPr id="125" name="Text 110"/>
          <p:cNvSpPr/>
          <p:nvPr/>
        </p:nvSpPr>
        <p:spPr>
          <a:xfrm>
            <a:off x="12352020" y="9389983"/>
            <a:ext cx="237210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32" kern="0" dirty="0">
                <a:solidFill>
                  <a:srgbClr val="5B3D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CONTRIBUTES DEPENDENTLY</a:t>
            </a:r>
            <a:endParaRPr lang="en-US" sz="788" dirty="0"/>
          </a:p>
        </p:txBody>
      </p:sp>
      <p:sp>
        <p:nvSpPr>
          <p:cNvPr id="126" name="Text 111"/>
          <p:cNvSpPr/>
          <p:nvPr/>
        </p:nvSpPr>
        <p:spPr>
          <a:xfrm>
            <a:off x="12352020" y="9559528"/>
            <a:ext cx="2232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20"/>
              </a:lnSpc>
              <a:buNone/>
            </a:pPr>
            <a:r>
              <a:rPr lang="en-US" sz="938" dirty="0">
                <a:solidFill>
                  <a:srgbClr val="4B5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business-ready data transformations under guidance.</a:t>
            </a:r>
            <a:endParaRPr lang="en-US" sz="938" dirty="0"/>
          </a:p>
        </p:txBody>
      </p:sp>
      <p:sp>
        <p:nvSpPr>
          <p:cNvPr id="127" name="Shape 112"/>
          <p:cNvSpPr/>
          <p:nvPr/>
        </p:nvSpPr>
        <p:spPr>
          <a:xfrm>
            <a:off x="609600" y="9761220"/>
            <a:ext cx="17068800" cy="9525"/>
          </a:xfrm>
          <a:prstGeom prst="rect">
            <a:avLst/>
          </a:prstGeom>
          <a:solidFill>
            <a:srgbClr val="E1E4EA"/>
          </a:solidFill>
          <a:ln/>
        </p:spPr>
      </p:sp>
      <p:sp>
        <p:nvSpPr>
          <p:cNvPr id="128" name="Text 113"/>
          <p:cNvSpPr/>
          <p:nvPr/>
        </p:nvSpPr>
        <p:spPr>
          <a:xfrm>
            <a:off x="609600" y="9845040"/>
            <a:ext cx="429145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per the Syniti Role and Experience Guide (Q4 2024)</a:t>
            </a:r>
            <a:endParaRPr lang="en-US" sz="1125" dirty="0"/>
          </a:p>
        </p:txBody>
      </p:sp>
      <p:sp>
        <p:nvSpPr>
          <p:cNvPr id="129" name="Text 114"/>
          <p:cNvSpPr/>
          <p:nvPr/>
        </p:nvSpPr>
        <p:spPr>
          <a:xfrm>
            <a:off x="15969615" y="9845040"/>
            <a:ext cx="187966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A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Syniti · Part of Capgemini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2026-07-30T13:00:37Z</dcterms:created>
  <dcterms:modified xsi:type="dcterms:W3CDTF">2026-07-30T13:00:37Z</dcterms:modified>
</cp:coreProperties>
</file>